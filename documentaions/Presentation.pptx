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51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7C1DB-E975-FE65-CDF0-50ADD286E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0EFF-7490-29E3-AF10-150DC798E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B34E7-B911-5D8B-C9FA-E4C43FDE9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68DB0-36B4-1DFB-3305-73754F1F86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0896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D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Visualization Platform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A8C4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Informatics Education Statistics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A8C4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European Universities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3200400" cy="36576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Bc. Břetislav Milota  ·  Bc. Martin Schön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C4D4"/>
                </a:solidFill>
              </a:rPr>
              <a:t>Dept. of Computer Science &amp; Engineering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C4D4"/>
                </a:solidFill>
              </a:rPr>
              <a:t>Faculty of Applied Sciences, University of West Bohemia, </a:t>
            </a:r>
            <a:r>
              <a:rPr lang="en-US" sz="1400" noProof="0" dirty="0">
                <a:solidFill>
                  <a:srgbClr val="A8C4D4"/>
                </a:solidFill>
              </a:rPr>
              <a:t>Pilsen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0" y="2834640"/>
            <a:ext cx="1920240" cy="5029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685800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3D62"/>
                </a:solidFill>
              </a:rPr>
              <a:t>KIV/VI — May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2A45"/>
          </a:solidFill>
          <a:ln w="12700">
            <a:solidFill>
              <a:srgbClr val="002A45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8AAA"/>
                </a:solidFill>
              </a:rPr>
              <a:t>University of West Bohemia  ·  Information Visualization  ·  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THE PROBLEM &amp; GOAL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7080"/>
                </a:solidFill>
              </a:rPr>
              <a:t>2 /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3931920" cy="329184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45720" cy="329184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5A8F"/>
                </a:solidFill>
              </a:rPr>
              <a:t>The Problem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3040"/>
                </a:solidFill>
              </a:rPr>
              <a:t>Informatics Europe (IE)</a:t>
            </a:r>
            <a:r>
              <a:rPr lang="en-US" sz="1350" dirty="0">
                <a:solidFill>
                  <a:srgbClr val="1E3040"/>
                </a:solidFill>
              </a:rPr>
              <a:t> maintains time-series data on student enrollment, graduation rates, and female representation across Europe.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3040"/>
                </a:solidFill>
              </a:rPr>
              <a:t>But all of it lives in 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0A500"/>
                </a:solidFill>
              </a:rPr>
              <a:t>Excel workbooks</a:t>
            </a:r>
            <a:r>
              <a:rPr lang="en-US" sz="1350" dirty="0">
                <a:solidFill>
                  <a:srgbClr val="1E3040"/>
                </a:solidFill>
              </a:rPr>
              <a:t> — requiring manual effort to find patterns.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5A7080"/>
                </a:solidFill>
              </a:rPr>
              <a:t>Existing portals offer only tabular views. Geographic and temporal trends are invisible.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0" y="685800"/>
            <a:ext cx="3931920" cy="329184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4572000" y="685800"/>
            <a:ext cx="45720" cy="329184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4709160" y="777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5A8F"/>
                </a:solidFill>
              </a:rPr>
              <a:t>Our Goal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1181100"/>
            <a:ext cx="3611880" cy="2659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3040"/>
                </a:solidFill>
              </a:rPr>
              <a:t>A unified, browser-based platform</a:t>
            </a:r>
            <a:r>
              <a:rPr lang="en-US" sz="1350" dirty="0">
                <a:solidFill>
                  <a:srgbClr val="1E3040"/>
                </a:solidFill>
              </a:rPr>
              <a:t> that transforms raw spreadsheets into interactive multi-level visualizations.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1E3040"/>
                </a:solidFill>
              </a:rPr>
              <a:t>Serving: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5A7080"/>
                </a:solidFill>
              </a:rPr>
              <a:t>  →  Researchers &amp; policy makers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5A7080"/>
                </a:solidFill>
              </a:rPr>
              <a:t>  →  University administrators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5A7080"/>
                </a:solidFill>
              </a:rPr>
              <a:t>  →  IE staff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381760" y="4160520"/>
            <a:ext cx="1920240" cy="73152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1381760" y="4160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5A8F"/>
                </a:solidFill>
              </a:rPr>
              <a:t>&gt;200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8176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080"/>
                </a:solidFill>
              </a:rPr>
              <a:t>Institutions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84880" y="4160520"/>
            <a:ext cx="1920240" cy="73152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3484880" y="4160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cs-CZ" sz="2400" b="1" dirty="0">
                <a:solidFill>
                  <a:srgbClr val="005A8F"/>
                </a:solidFill>
              </a:rPr>
              <a:t>34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48488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080"/>
                </a:solidFill>
              </a:rPr>
              <a:t>Countries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88000" y="4160520"/>
            <a:ext cx="1920240" cy="73152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5588000" y="4160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5A8F"/>
                </a:solidFill>
              </a:rPr>
              <a:t>14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58800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080"/>
                </a:solidFill>
              </a:rPr>
              <a:t>Years of data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INTERACTIVE 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3</a:t>
            </a:r>
            <a:r>
              <a:rPr lang="en-US" sz="1000" dirty="0">
                <a:solidFill>
                  <a:srgbClr val="5A7080"/>
                </a:solidFill>
              </a:rPr>
              <a:t> / 10</a:t>
            </a:r>
            <a:endParaRPr lang="en-US" sz="1000" dirty="0"/>
          </a:p>
        </p:txBody>
      </p:sp>
      <p:pic>
        <p:nvPicPr>
          <p:cNvPr id="5" name="Image 0" descr="/home/claude/poster_imgs/map_europ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594360"/>
            <a:ext cx="557784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80760" y="1193945"/>
            <a:ext cx="274320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7" name="Shape 4"/>
          <p:cNvSpPr/>
          <p:nvPr/>
        </p:nvSpPr>
        <p:spPr>
          <a:xfrm>
            <a:off x="6080760" y="1193945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/>
          <p:cNvSpPr/>
          <p:nvPr/>
        </p:nvSpPr>
        <p:spPr>
          <a:xfrm>
            <a:off x="6236208" y="1248809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A8F"/>
                </a:solidFill>
              </a:rPr>
              <a:t>Clustered Markers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236208" y="1532273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040"/>
                </a:solidFill>
              </a:rPr>
              <a:t>Automatically group at low zoom — click or zoom to expand to individual institutions.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80760" y="2236361"/>
            <a:ext cx="274320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1" name="Shape 8"/>
          <p:cNvSpPr/>
          <p:nvPr/>
        </p:nvSpPr>
        <p:spPr>
          <a:xfrm>
            <a:off x="6080760" y="2236361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9"/>
          <p:cNvSpPr/>
          <p:nvPr/>
        </p:nvSpPr>
        <p:spPr>
          <a:xfrm>
            <a:off x="6236208" y="2291225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A8F"/>
                </a:solidFill>
              </a:rPr>
              <a:t>Color Coding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36208" y="2574689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040"/>
                </a:solidFill>
              </a:rPr>
              <a:t>Green = IE member institutions.  Blue = general institutions.  Red = selected.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080760" y="3273552"/>
            <a:ext cx="274320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9" name="Shape 16"/>
          <p:cNvSpPr/>
          <p:nvPr/>
        </p:nvSpPr>
        <p:spPr>
          <a:xfrm>
            <a:off x="6080760" y="3273552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7"/>
          <p:cNvSpPr/>
          <p:nvPr/>
        </p:nvSpPr>
        <p:spPr>
          <a:xfrm>
            <a:off x="6236208" y="33284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A8F"/>
                </a:solidFill>
              </a:rPr>
              <a:t>Department Level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236208" y="36118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040"/>
                </a:solidFill>
              </a:rPr>
              <a:t>Zooming into a country reveals individual department markers, not just universities.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CHOROPLETH LAYER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4</a:t>
            </a:r>
            <a:r>
              <a:rPr lang="en-US" sz="1000" dirty="0">
                <a:solidFill>
                  <a:srgbClr val="5A7080"/>
                </a:solidFill>
              </a:rPr>
              <a:t> /</a:t>
            </a:r>
            <a:r>
              <a:rPr lang="cs-CZ" sz="1000" dirty="0">
                <a:solidFill>
                  <a:srgbClr val="5A7080"/>
                </a:solidFill>
              </a:rPr>
              <a:t> </a:t>
            </a:r>
            <a:r>
              <a:rPr lang="en-US" sz="1000" dirty="0">
                <a:solidFill>
                  <a:srgbClr val="5A7080"/>
                </a:solidFill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040"/>
                </a:solidFill>
              </a:rPr>
              <a:t>9 configurable combinations — {BSc, MSc, PhD} × {enrolled, first-year, degrees} — with 4 metrics each</a:t>
            </a:r>
            <a:endParaRPr lang="en-US" sz="1300" dirty="0"/>
          </a:p>
        </p:txBody>
      </p:sp>
      <p:pic>
        <p:nvPicPr>
          <p:cNvPr id="6" name="Image 0" descr="/home/claude/poster_imgs/choropleth_201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097280"/>
            <a:ext cx="4160520" cy="2304288"/>
          </a:xfrm>
          <a:prstGeom prst="rect">
            <a:avLst/>
          </a:prstGeom>
        </p:spPr>
      </p:pic>
      <p:pic>
        <p:nvPicPr>
          <p:cNvPr id="7" name="Image 1" descr="/home/claude/poster_imgs/choropleth_2023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3440" y="1097280"/>
            <a:ext cx="4160520" cy="2304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0040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7080"/>
                </a:solidFill>
              </a:rPr>
              <a:t>Female BSc count — 2010/11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663440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7080"/>
                </a:solidFill>
              </a:rPr>
              <a:t>Female BSc count — 2023/24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794760" y="333298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A500"/>
                </a:solidFill>
              </a:rPr>
              <a:t>13 years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320040" y="3749040"/>
            <a:ext cx="8503920" cy="77724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2" name="Shape 8"/>
          <p:cNvSpPr/>
          <p:nvPr/>
        </p:nvSpPr>
        <p:spPr>
          <a:xfrm>
            <a:off x="320040" y="3749040"/>
            <a:ext cx="45720" cy="77724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9"/>
          <p:cNvSpPr/>
          <p:nvPr/>
        </p:nvSpPr>
        <p:spPr>
          <a:xfrm>
            <a:off x="502920" y="3767328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A8F"/>
                </a:solidFill>
              </a:rPr>
              <a:t>Key insight: </a:t>
            </a:r>
            <a:r>
              <a:rPr lang="en-US" sz="1250" dirty="0">
                <a:solidFill>
                  <a:srgbClr val="1E3040"/>
                </a:solidFill>
              </a:rPr>
              <a:t>Absolute female counts </a:t>
            </a:r>
            <a:r>
              <a:rPr lang="en-US" sz="1250" b="1" dirty="0">
                <a:solidFill>
                  <a:srgbClr val="2F77A2"/>
                </a:solidFill>
              </a:rPr>
              <a:t>grew</a:t>
            </a:r>
            <a:r>
              <a:rPr lang="en-US" sz="1250" dirty="0">
                <a:solidFill>
                  <a:srgbClr val="1E3040"/>
                </a:solidFill>
              </a:rPr>
              <a:t> in most countries from 2010 to 2024 — yet the </a:t>
            </a:r>
            <a:r>
              <a:rPr lang="en-US" sz="1250" b="1" dirty="0">
                <a:solidFill>
                  <a:srgbClr val="F0A500"/>
                </a:solidFill>
              </a:rPr>
              <a:t>relative share barely changed.</a:t>
            </a:r>
            <a:r>
              <a:rPr lang="en-US" sz="1250" dirty="0">
                <a:solidFill>
                  <a:srgbClr val="5A7080"/>
                </a:solidFill>
              </a:rPr>
              <a:t> This is invisible in tables, immediately obvious in the choropleth.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STATISTICAL CHARTS  —  ENROLLMENT &amp; DEGREES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5</a:t>
            </a:r>
            <a:r>
              <a:rPr lang="en-US" sz="1000" dirty="0">
                <a:solidFill>
                  <a:srgbClr val="5A7080"/>
                </a:solidFill>
              </a:rPr>
              <a:t>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6217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A8F"/>
                </a:solidFill>
              </a:rPr>
              <a:t>Enrollment Trends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96926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080"/>
                </a:solidFill>
              </a:rPr>
              <a:t>Stacked bars split first-year vs. returning cohorts for bachelors.</a:t>
            </a:r>
            <a:endParaRPr lang="en-US" sz="1100" dirty="0"/>
          </a:p>
        </p:txBody>
      </p:sp>
      <p:pic>
        <p:nvPicPr>
          <p:cNvPr id="7" name="Image 0" descr="/home/claude/app_screenshots/enrollment_trend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71600"/>
            <a:ext cx="4206240" cy="2331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754880" y="62179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A8F"/>
                </a:solidFill>
              </a:rPr>
              <a:t>Degrees Awarded Over Time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754880" y="969264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080"/>
                </a:solidFill>
              </a:rPr>
              <a:t>Line chart tracking total degrees per year — shows academic output trajectory.</a:t>
            </a:r>
            <a:endParaRPr lang="en-US" sz="1100" dirty="0"/>
          </a:p>
        </p:txBody>
      </p:sp>
      <p:pic>
        <p:nvPicPr>
          <p:cNvPr id="10" name="Image 1" descr="/home/claude/app_screenshots/degrees_awar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371600"/>
            <a:ext cx="4069080" cy="2331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" y="3794760"/>
            <a:ext cx="420624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12" name="Shape 8"/>
          <p:cNvSpPr/>
          <p:nvPr/>
        </p:nvSpPr>
        <p:spPr>
          <a:xfrm>
            <a:off x="320040" y="3794760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9"/>
          <p:cNvSpPr/>
          <p:nvPr/>
        </p:nvSpPr>
        <p:spPr>
          <a:xfrm>
            <a:off x="45720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A8F"/>
                </a:solidFill>
              </a:rPr>
              <a:t>Enrollment Over Time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41148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noProof="0" dirty="0">
                <a:solidFill>
                  <a:srgbClr val="5A7080"/>
                </a:solidFill>
              </a:rPr>
              <a:t>BSc, MSc and PhD per country – from Informatics Europe data.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754880" y="3794760"/>
            <a:ext cx="4069080" cy="914400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6" name="Shape 12"/>
          <p:cNvSpPr/>
          <p:nvPr/>
        </p:nvSpPr>
        <p:spPr>
          <a:xfrm>
            <a:off x="4754880" y="3794760"/>
            <a:ext cx="45720" cy="91440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3"/>
          <p:cNvSpPr/>
          <p:nvPr/>
        </p:nvSpPr>
        <p:spPr>
          <a:xfrm>
            <a:off x="489204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A8F"/>
                </a:solidFill>
              </a:rPr>
              <a:t>Graduates Over Time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892040" y="41148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A7080"/>
                </a:solidFill>
              </a:rPr>
              <a:t>Line chart of BSc and MSc graduates per institution — from Informatics Europe data.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STATISTICAL CHARTS  —  GENDER ANALYSIS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6</a:t>
            </a:r>
            <a:r>
              <a:rPr lang="en-US" sz="1000" dirty="0">
                <a:solidFill>
                  <a:srgbClr val="5A7080"/>
                </a:solidFill>
              </a:rPr>
              <a:t>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6217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A8F"/>
                </a:solidFill>
              </a:rPr>
              <a:t>Female Representation Trend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96926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080"/>
                </a:solidFill>
              </a:rPr>
              <a:t>BSc vs MSc female share per year — exposes whether the gap differs between programme levels.</a:t>
            </a:r>
            <a:endParaRPr lang="en-US" sz="1100" dirty="0"/>
          </a:p>
        </p:txBody>
      </p:sp>
      <p:pic>
        <p:nvPicPr>
          <p:cNvPr id="7" name="Image 0" descr="/home/claude/app_screenshots/female_represent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71600"/>
            <a:ext cx="4206240" cy="2377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754880" y="62179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A8F"/>
                </a:solidFill>
              </a:rPr>
              <a:t>Female Representation — Side-by-Side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754880" y="969264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080"/>
                </a:solidFill>
              </a:rPr>
              <a:t>Four lines: BSc &amp; MSc for two countries. Colour = degree level, line style = country.</a:t>
            </a:r>
            <a:endParaRPr lang="en-US" sz="1100" dirty="0"/>
          </a:p>
        </p:txBody>
      </p:sp>
      <p:pic>
        <p:nvPicPr>
          <p:cNvPr id="10" name="Image 1" descr="/home/claude/app_screenshots/female_representation_compariso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371600"/>
            <a:ext cx="4069080" cy="2377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" y="3858768"/>
            <a:ext cx="8503920" cy="804672"/>
          </a:xfrm>
          <a:prstGeom prst="rect">
            <a:avLst/>
          </a:prstGeom>
          <a:solidFill>
            <a:srgbClr val="EBF4FA"/>
          </a:solidFill>
          <a:ln w="6350">
            <a:solidFill>
              <a:srgbClr val="C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2" name="Shape 8"/>
          <p:cNvSpPr/>
          <p:nvPr/>
        </p:nvSpPr>
        <p:spPr>
          <a:xfrm>
            <a:off x="320040" y="3858768"/>
            <a:ext cx="45720" cy="804672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9"/>
          <p:cNvSpPr/>
          <p:nvPr/>
        </p:nvSpPr>
        <p:spPr>
          <a:xfrm>
            <a:off x="502920" y="3877056"/>
            <a:ext cx="81381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A8F"/>
                </a:solidFill>
              </a:rPr>
              <a:t>Key insight: </a:t>
            </a:r>
            <a:r>
              <a:rPr lang="en-US" sz="1200" dirty="0">
                <a:solidFill>
                  <a:srgbClr val="1E3040"/>
                </a:solidFill>
              </a:rPr>
              <a:t>MSc female share is consistently </a:t>
            </a:r>
            <a:r>
              <a:rPr lang="en-US" sz="1200" b="1" dirty="0">
                <a:solidFill>
                  <a:srgbClr val="2F77A2"/>
                </a:solidFill>
              </a:rPr>
              <a:t>higher</a:t>
            </a:r>
            <a:r>
              <a:rPr lang="en-US" sz="1200" dirty="0">
                <a:solidFill>
                  <a:srgbClr val="5A7080"/>
                </a:solidFill>
              </a:rPr>
              <a:t> than BSc in most countries — yet both remain well below 30%. The comparison view makes cross-country divergence immediately visible.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STATISTICAL CHARTS  —  EUROPEAN CONTEXT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s-CZ" sz="1000" dirty="0">
                <a:solidFill>
                  <a:srgbClr val="5A7080"/>
                </a:solidFill>
              </a:rPr>
              <a:t>7</a:t>
            </a:r>
            <a:r>
              <a:rPr lang="en-US" sz="1000" dirty="0">
                <a:solidFill>
                  <a:srgbClr val="5A7080"/>
                </a:solidFill>
              </a:rPr>
              <a:t>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1228625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A8F"/>
                </a:solidFill>
              </a:rPr>
              <a:t>European Student Distribution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530377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080"/>
                </a:solidFill>
              </a:rPr>
              <a:t>Each country's proportional share of total EU informatics students.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754880" y="1228625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A8F"/>
                </a:solidFill>
              </a:rPr>
              <a:t>Absolute Scale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754880" y="1530377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080"/>
                </a:solidFill>
              </a:rPr>
              <a:t>Raw enrollment per country — large nations (Germany, UK, Turkey) dominate.</a:t>
            </a:r>
            <a:endParaRPr lang="en-US" sz="1050" dirty="0"/>
          </a:p>
        </p:txBody>
      </p:sp>
      <p:pic>
        <p:nvPicPr>
          <p:cNvPr id="10" name="Image 1" descr="/home/claude/app_screenshots/absolute_scal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54880" y="1868705"/>
            <a:ext cx="4069080" cy="1691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F84E537-D58E-18D4-7F7A-9560F3553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91" y="1868705"/>
            <a:ext cx="3881738" cy="226105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12A99-6111-2A72-C828-F6185A9BF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13DBE7-C159-0400-884A-7A6EA801D690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3B811D-D1F7-DF12-3901-82B01CC17043}"/>
              </a:ext>
            </a:extLst>
          </p:cNvPr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STATISTICAL CHARTS  —  EUROPEAN CONTEXT 2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A484B04-E28F-FE67-FA3D-9D5CA576152D}"/>
              </a:ext>
            </a:extLst>
          </p:cNvPr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7080"/>
                </a:solidFill>
              </a:rPr>
              <a:t>8 / 10</a:t>
            </a:r>
            <a:endParaRPr lang="en-US" sz="10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95A62D5D-60DC-7516-DEDF-95A32E1F632A}"/>
              </a:ext>
            </a:extLst>
          </p:cNvPr>
          <p:cNvSpPr/>
          <p:nvPr/>
        </p:nvSpPr>
        <p:spPr>
          <a:xfrm>
            <a:off x="365760" y="125529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A8F"/>
                </a:solidFill>
              </a:rPr>
              <a:t>National Density</a:t>
            </a:r>
            <a:endParaRPr lang="en-US" sz="13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64BCD53-DCD7-3270-A2E7-440A9EEA38A2}"/>
              </a:ext>
            </a:extLst>
          </p:cNvPr>
          <p:cNvSpPr/>
          <p:nvPr/>
        </p:nvSpPr>
        <p:spPr>
          <a:xfrm>
            <a:off x="365760" y="155705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080"/>
                </a:solidFill>
              </a:rPr>
              <a:t>Students per million inhabitants — reverses the ranking; small Nordic nations lead.</a:t>
            </a:r>
            <a:endParaRPr lang="en-US" sz="105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E06E247D-CFF9-BB7B-7471-2760F174517F}"/>
              </a:ext>
            </a:extLst>
          </p:cNvPr>
          <p:cNvSpPr/>
          <p:nvPr/>
        </p:nvSpPr>
        <p:spPr>
          <a:xfrm>
            <a:off x="4800600" y="1255298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A8F"/>
                </a:solidFill>
              </a:rPr>
              <a:t>Total Enrollment Comparison</a:t>
            </a:r>
            <a:endParaRPr lang="en-US" sz="13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69691C6-4FAC-B3BE-B06A-5E433B5D5B76}"/>
              </a:ext>
            </a:extLst>
          </p:cNvPr>
          <p:cNvSpPr/>
          <p:nvPr/>
        </p:nvSpPr>
        <p:spPr>
          <a:xfrm>
            <a:off x="4800600" y="155705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080"/>
                </a:solidFill>
              </a:rPr>
              <a:t>Year-by-year grouped bars for two countries — direct comparative benchmarking.</a:t>
            </a:r>
            <a:endParaRPr lang="en-US" sz="10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5645450-9FA7-5A0D-FC60-DA7461697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01" y="1877090"/>
            <a:ext cx="3958158" cy="168335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A737D8-FF44-28AD-779B-1921D3C32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6061" y="1925096"/>
            <a:ext cx="3958158" cy="203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34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7080"/>
                </a:solidFill>
              </a:rPr>
              <a:t>9 /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658368"/>
            <a:ext cx="41148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0D8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320040" y="658368"/>
            <a:ext cx="4114800" cy="54864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457200" y="795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A8F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9848" y="7955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040"/>
                </a:solidFill>
              </a:rPr>
              <a:t>The gender gap persists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389888"/>
            <a:ext cx="3794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080"/>
                </a:solidFill>
              </a:rPr>
              <a:t>Most European countries show fewer than 25% female students at BSc level — a ratio barely changed over 14 years.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658368"/>
            <a:ext cx="41148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0D8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4709160" y="658368"/>
            <a:ext cx="4114800" cy="54864"/>
          </a:xfrm>
          <a:prstGeom prst="rect">
            <a:avLst/>
          </a:prstGeom>
          <a:solidFill>
            <a:srgbClr val="2F77A2"/>
          </a:solidFill>
          <a:ln w="12700">
            <a:solidFill>
              <a:srgbClr val="2F77A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4846320" y="795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F77A2"/>
                </a:solidFill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458968" y="7955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040"/>
                </a:solidFill>
              </a:rPr>
              <a:t>Growth masks stagnation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1389888"/>
            <a:ext cx="3794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080"/>
                </a:solidFill>
              </a:rPr>
              <a:t>Absolute female enrollment grew in most countries, yet the relative share is nearly unchanged. Choropleth maps make this immediately visible.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14600" y="2752344"/>
            <a:ext cx="41148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0D8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2514600" y="2752344"/>
            <a:ext cx="4114800" cy="54864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2651760" y="28895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0A500"/>
                </a:solidFill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264408" y="288950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040"/>
                </a:solidFill>
              </a:rPr>
              <a:t>Population normalization reverses rankings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97480" y="3483864"/>
            <a:ext cx="3794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080"/>
                </a:solidFill>
              </a:rPr>
              <a:t>Sweden, Finland, and Estonia top the density charts — invisible in raw figures dominated by Germany.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3D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8AAA"/>
                </a:solidFill>
              </a:rPr>
              <a:t>10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2286000" cy="36576"/>
          </a:xfrm>
          <a:prstGeom prst="rect">
            <a:avLst/>
          </a:prstGeom>
          <a:solidFill>
            <a:srgbClr val="005A8F"/>
          </a:solidFill>
          <a:ln w="12700">
            <a:solidFill>
              <a:srgbClr val="005A8F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4618990" cy="3291840"/>
          </a:xfrm>
          <a:prstGeom prst="rect">
            <a:avLst/>
          </a:prstGeom>
          <a:solidFill>
            <a:srgbClr val="002A45"/>
          </a:solidFill>
          <a:ln w="9525">
            <a:solidFill>
              <a:srgbClr val="2F77A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48640" y="11155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0A500"/>
                </a:solidFill>
              </a:rPr>
              <a:t>What we built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4239260" cy="2610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 fully static Vue 3 SPA</a:t>
            </a:r>
            <a:r>
              <a:rPr lang="en-US" sz="1600" dirty="0">
                <a:solidFill>
                  <a:srgbClr val="A8C4D4"/>
                </a:solidFill>
              </a:rPr>
              <a:t> integrating:
  ·  Geographic choropleth layer
  ·  Clustered interactive map
  ·  Statistical charts (enrollment, gender, density)
  ·  Side-by-side comparison modal
  ·  Search &amp; filter across 200+ institutions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01E30"/>
          </a:solidFill>
          <a:ln w="12700">
            <a:solidFill>
              <a:srgbClr val="001E30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6A8A"/>
                </a:solidFill>
              </a:rPr>
              <a:t>University of West Bohemia  ·  KIV/VI  ·  May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678</Words>
  <Application>Microsoft Office PowerPoint</Application>
  <PresentationFormat>On-screen Show (16:9)</PresentationFormat>
  <Paragraphs>102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Interactive Visualization Platform for Informatics Education Statistics</dc:title>
  <dc:subject>PptxGenJS Presentation</dc:subject>
  <dc:creator>Bc. Břetislav Milota, Bc. Martin Schön</dc:creator>
  <cp:lastModifiedBy>Martin Schön</cp:lastModifiedBy>
  <cp:revision>4</cp:revision>
  <dcterms:created xsi:type="dcterms:W3CDTF">2026-05-27T17:07:40Z</dcterms:created>
  <dcterms:modified xsi:type="dcterms:W3CDTF">2026-05-28T14:14:21Z</dcterms:modified>
</cp:coreProperties>
</file>