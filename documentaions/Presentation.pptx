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529" autoAdjust="0"/>
  </p:normalViewPr>
  <p:slideViewPr>
    <p:cSldViewPr snapToGrid="0" snapToObjects="1">
      <p:cViewPr>
        <p:scale>
          <a:sx n="100" d="100"/>
          <a:sy n="100" d="100"/>
        </p:scale>
        <p:origin x="946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51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 — my name is Břetislav Milota, and together with my colleague Martin Schön</a:t>
            </a:r>
            <a:r>
              <a:rPr lang="cs-CZ" dirty="0"/>
              <a:t> </a:t>
            </a:r>
            <a:r>
              <a:rPr lang="en-US" dirty="0"/>
              <a:t>we built an interactive web platform for exploring informatics education</a:t>
            </a:r>
            <a:r>
              <a:rPr lang="cs-CZ" dirty="0"/>
              <a:t> </a:t>
            </a:r>
            <a:r>
              <a:rPr lang="en-US" dirty="0"/>
              <a:t>statistics across European universities.</a:t>
            </a:r>
            <a:r>
              <a:rPr lang="cs-CZ" dirty="0"/>
              <a:t> </a:t>
            </a:r>
            <a:r>
              <a:rPr lang="en-US" dirty="0"/>
              <a:t>This was our semester project for Information Visualization —at the University of West Bohemia in Pilsen.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we set out to solve is this:</a:t>
            </a:r>
            <a:r>
              <a:rPr lang="cs-CZ" dirty="0"/>
              <a:t> </a:t>
            </a:r>
            <a:r>
              <a:rPr lang="en-US" dirty="0"/>
              <a:t>Informatics Europe — the association of computer science and informatics</a:t>
            </a:r>
            <a:r>
              <a:rPr lang="cs-CZ" dirty="0"/>
              <a:t> </a:t>
            </a:r>
            <a:r>
              <a:rPr lang="en-US" dirty="0"/>
              <a:t>institutions across Europe — maintains multi-year data on student</a:t>
            </a:r>
            <a:r>
              <a:rPr lang="cs-CZ" dirty="0"/>
              <a:t> </a:t>
            </a:r>
            <a:r>
              <a:rPr lang="en-US" dirty="0"/>
              <a:t>enrollment, graduation rates, and female representation.</a:t>
            </a:r>
            <a:r>
              <a:rPr lang="cs-CZ" dirty="0"/>
              <a:t> </a:t>
            </a:r>
            <a:r>
              <a:rPr lang="en-US" dirty="0"/>
              <a:t>But the data lives in Excel spreadsheets.</a:t>
            </a:r>
            <a:r>
              <a:rPr lang="cs-CZ" dirty="0"/>
              <a:t> </a:t>
            </a:r>
            <a:r>
              <a:rPr lang="en-US" dirty="0"/>
              <a:t>Finding a geographic pattern, comparing two countries, or spotting a14-year trend requires a significant amount of work.</a:t>
            </a:r>
            <a:r>
              <a:rPr lang="cs-CZ" dirty="0"/>
              <a:t> </a:t>
            </a:r>
            <a:r>
              <a:rPr lang="en-US" dirty="0"/>
              <a:t>Our goal was to turn those spreadsheets into a unified,</a:t>
            </a:r>
            <a:r>
              <a:rPr lang="cs-CZ" dirty="0"/>
              <a:t> </a:t>
            </a:r>
            <a:r>
              <a:rPr lang="en-US" dirty="0"/>
              <a:t>interactive, browser-based platform — usable by researchers,</a:t>
            </a:r>
            <a:r>
              <a:rPr lang="cs-CZ" dirty="0"/>
              <a:t> </a:t>
            </a:r>
            <a:r>
              <a:rPr lang="en-US" dirty="0"/>
              <a:t>administrators, and policy makers — covering over 200 institutions</a:t>
            </a:r>
            <a:r>
              <a:rPr lang="cs-CZ" dirty="0"/>
              <a:t> </a:t>
            </a:r>
            <a:r>
              <a:rPr lang="en-US" dirty="0"/>
              <a:t>across 34 countries with 14 years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entry point is a full-screen interactive map.</a:t>
            </a:r>
            <a:r>
              <a:rPr lang="cs-CZ" dirty="0"/>
              <a:t> </a:t>
            </a:r>
            <a:r>
              <a:rPr lang="en-US" dirty="0"/>
              <a:t>At a continent-wide zoom, markers cluster automatically to show</a:t>
            </a:r>
            <a:r>
              <a:rPr lang="cs-CZ" dirty="0"/>
              <a:t> </a:t>
            </a:r>
            <a:r>
              <a:rPr lang="en-US" dirty="0"/>
              <a:t>institutional density. As you zoom in, clusters expand to reveal</a:t>
            </a:r>
            <a:r>
              <a:rPr lang="cs-CZ" dirty="0"/>
              <a:t> </a:t>
            </a:r>
            <a:r>
              <a:rPr lang="en-US" dirty="0"/>
              <a:t>individual universities — and in countries with detailed data,</a:t>
            </a:r>
            <a:r>
              <a:rPr lang="cs-CZ" dirty="0"/>
              <a:t> </a:t>
            </a:r>
            <a:r>
              <a:rPr lang="en-US" dirty="0"/>
              <a:t>you can drill down to individual departments.</a:t>
            </a:r>
            <a:r>
              <a:rPr lang="cs-CZ" dirty="0"/>
              <a:t> </a:t>
            </a:r>
            <a:r>
              <a:rPr lang="en-US" dirty="0"/>
              <a:t>Color coding keeps things readable: green markers are IE member</a:t>
            </a:r>
            <a:r>
              <a:rPr lang="cs-CZ" dirty="0"/>
              <a:t> </a:t>
            </a:r>
            <a:r>
              <a:rPr lang="en-US" dirty="0"/>
              <a:t>institutions, blue markers are general institutions, and a selected</a:t>
            </a:r>
            <a:r>
              <a:rPr lang="cs-CZ" dirty="0"/>
              <a:t> </a:t>
            </a:r>
            <a:r>
              <a:rPr lang="en-US" dirty="0"/>
              <a:t>marker turns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Overlaid on the map is a configurable choropleth layer.</a:t>
            </a:r>
            <a:r>
              <a:rPr lang="cs-CZ" dirty="0"/>
              <a:t> </a:t>
            </a:r>
            <a:r>
              <a:rPr lang="en-US" dirty="0"/>
              <a:t>You can choose any combination of degree level — Bachelor's, Master‘s,</a:t>
            </a:r>
            <a:r>
              <a:rPr lang="cs-CZ" dirty="0"/>
              <a:t> </a:t>
            </a:r>
            <a:r>
              <a:rPr lang="en-US" dirty="0"/>
              <a:t>or PhD — with enrollment type, and then pick a metric: total count,</a:t>
            </a:r>
            <a:r>
              <a:rPr lang="cs-CZ" dirty="0"/>
              <a:t> </a:t>
            </a:r>
            <a:r>
              <a:rPr lang="en-US" dirty="0"/>
              <a:t>female count, female share as a percentage, or count per million inhabitants.</a:t>
            </a:r>
            <a:r>
              <a:rPr lang="cs-CZ" dirty="0"/>
              <a:t> </a:t>
            </a:r>
            <a:r>
              <a:rPr lang="en-US" dirty="0"/>
              <a:t>These two maps illustrate the point well.</a:t>
            </a:r>
            <a:r>
              <a:rPr lang="cs-CZ" dirty="0"/>
              <a:t> </a:t>
            </a:r>
            <a:r>
              <a:rPr lang="en-US" dirty="0"/>
              <a:t>On the left: absolute female Bachelor's enrollment in 2010.On the right: the same metric in 2023.The colors have shifted — absolute numbers grew.</a:t>
            </a:r>
            <a:r>
              <a:rPr lang="cs-CZ" dirty="0"/>
              <a:t> </a:t>
            </a:r>
            <a:r>
              <a:rPr lang="en-US" dirty="0"/>
              <a:t>But when you switch to the female share metric, the picture barely moves.</a:t>
            </a:r>
            <a:r>
              <a:rPr lang="cs-CZ" dirty="0"/>
              <a:t> </a:t>
            </a:r>
            <a:r>
              <a:rPr lang="en-US" dirty="0"/>
              <a:t>Thirteen years of data, and the gender ratio has remained nearly flat.</a:t>
            </a:r>
            <a:r>
              <a:rPr lang="cs-CZ" dirty="0"/>
              <a:t> </a:t>
            </a:r>
            <a:r>
              <a:rPr lang="en-US" dirty="0"/>
              <a:t>That discrepancy is invisible in a table, but visible in the choropleth.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Clicking on any country or institution opens a detail modal with several chart types.</a:t>
            </a:r>
            <a:r>
              <a:rPr lang="cs-CZ" dirty="0"/>
              <a:t> </a:t>
            </a:r>
            <a:r>
              <a:rPr lang="en-US" dirty="0"/>
              <a:t>The Enrollment Trends chart uses stacked bars to separate first-year bachelor students</a:t>
            </a:r>
            <a:r>
              <a:rPr lang="cs-CZ" dirty="0"/>
              <a:t> </a:t>
            </a:r>
            <a:r>
              <a:rPr lang="en-US" dirty="0"/>
              <a:t>from returning cohorts — which makes retention patterns visible over time.</a:t>
            </a:r>
            <a:r>
              <a:rPr lang="cs-CZ" dirty="0"/>
              <a:t> </a:t>
            </a:r>
            <a:r>
              <a:rPr lang="en-US" dirty="0"/>
              <a:t>Next to it, the Degrees Awarded chart tracks total degrees per year as a line chart,</a:t>
            </a:r>
            <a:r>
              <a:rPr lang="cs-CZ" dirty="0"/>
              <a:t> </a:t>
            </a:r>
            <a:r>
              <a:rPr lang="en-US" dirty="0"/>
              <a:t>showing the academic output trajectory of a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female representation view plots BSc and MSc female share on the same</a:t>
            </a:r>
            <a:r>
              <a:rPr lang="cs-CZ" dirty="0"/>
              <a:t> </a:t>
            </a:r>
            <a:r>
              <a:rPr lang="en-US" dirty="0"/>
              <a:t>axis, with separate lines — so you can see whether the gap differs</a:t>
            </a:r>
            <a:r>
              <a:rPr lang="cs-CZ" dirty="0"/>
              <a:t> </a:t>
            </a:r>
            <a:r>
              <a:rPr lang="en-US" dirty="0"/>
              <a:t>between </a:t>
            </a:r>
            <a:r>
              <a:rPr lang="en-US" dirty="0" err="1"/>
              <a:t>programme</a:t>
            </a:r>
            <a:r>
              <a:rPr lang="en-US" dirty="0"/>
              <a:t> levels within the same country.</a:t>
            </a:r>
            <a:r>
              <a:rPr lang="cs-CZ" dirty="0"/>
              <a:t> </a:t>
            </a:r>
            <a:r>
              <a:rPr lang="en-US" dirty="0"/>
              <a:t>And with the comparison modal, you can overlay two countries at once —four lines total, with </a:t>
            </a:r>
            <a:r>
              <a:rPr lang="en-US" dirty="0" err="1"/>
              <a:t>colour</a:t>
            </a:r>
            <a:r>
              <a:rPr lang="en-US" dirty="0"/>
              <a:t> distinguishing degree level and line style</a:t>
            </a:r>
            <a:r>
              <a:rPr lang="cs-CZ" dirty="0"/>
              <a:t> </a:t>
            </a:r>
            <a:r>
              <a:rPr lang="en-US" dirty="0"/>
              <a:t>distinguishing the country.</a:t>
            </a:r>
            <a:r>
              <a:rPr lang="cs-CZ" dirty="0"/>
              <a:t> </a:t>
            </a:r>
            <a:r>
              <a:rPr lang="en-US" dirty="0"/>
              <a:t>The key insight here is that MSc female share is consistently higher than BSc</a:t>
            </a:r>
            <a:r>
              <a:rPr lang="cs-CZ" dirty="0"/>
              <a:t> </a:t>
            </a:r>
            <a:r>
              <a:rPr lang="en-US" dirty="0"/>
              <a:t>in most countries — yet both remain well below 30%.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Zooming out to the European level, users can view two comparative charts.</a:t>
            </a:r>
            <a:r>
              <a:rPr lang="cs-CZ" dirty="0"/>
              <a:t> </a:t>
            </a:r>
            <a:r>
              <a:rPr lang="en-US" dirty="0"/>
              <a:t>The doughnut chart shows each country's proportional share of the total</a:t>
            </a:r>
            <a:r>
              <a:rPr lang="cs-CZ" dirty="0"/>
              <a:t> </a:t>
            </a:r>
            <a:r>
              <a:rPr lang="en-US" dirty="0"/>
              <a:t>European informatics student population.</a:t>
            </a:r>
            <a:r>
              <a:rPr lang="cs-CZ" dirty="0"/>
              <a:t> </a:t>
            </a:r>
            <a:r>
              <a:rPr lang="en-US" dirty="0"/>
              <a:t>And the Absolute Scale bar chart shows raw enrollment numbers per country —where large nations like Germany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7C1DB-E975-FE65-CDF0-50ADD286E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80EFF-7490-29E3-AF10-150DC798E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B34E7-B911-5D8B-C9FA-E4C43FDE9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when you normalize by population — dividing by million inhabitants —the ranking reverses completely.</a:t>
            </a:r>
            <a:r>
              <a:rPr lang="cs-CZ" dirty="0"/>
              <a:t> </a:t>
            </a:r>
            <a:r>
              <a:rPr lang="en-US" dirty="0"/>
              <a:t>Sweden, Finland, and Greece rise to the top, while Germany drop.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68DB0-36B4-1DFB-3305-73754F1F86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89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Now</a:t>
            </a:r>
            <a:r>
              <a:rPr lang="cs-CZ" dirty="0"/>
              <a:t> l</a:t>
            </a:r>
            <a:r>
              <a:rPr lang="en-US" dirty="0"/>
              <a:t>et me highlight three things the platform makes visible.</a:t>
            </a:r>
            <a:r>
              <a:rPr lang="cs-CZ" dirty="0"/>
              <a:t> </a:t>
            </a:r>
            <a:r>
              <a:rPr lang="en-US" dirty="0"/>
              <a:t>First: the gender gap is persistent. Most European countries have</a:t>
            </a:r>
            <a:r>
              <a:rPr lang="cs-CZ" dirty="0"/>
              <a:t> </a:t>
            </a:r>
            <a:r>
              <a:rPr lang="en-US" dirty="0"/>
              <a:t>been below 25% female at BSc level for the entire 14-year window— and that has barely changed.</a:t>
            </a:r>
            <a:r>
              <a:rPr lang="cs-CZ" dirty="0"/>
              <a:t> </a:t>
            </a:r>
            <a:r>
              <a:rPr lang="en-US" dirty="0"/>
              <a:t>Second: growth masks stagnation. Raw female enrollment numbers grew,</a:t>
            </a:r>
            <a:r>
              <a:rPr lang="cs-CZ" dirty="0"/>
              <a:t> </a:t>
            </a:r>
            <a:r>
              <a:rPr lang="en-US" dirty="0"/>
              <a:t>giving the impression of progress — but the relative share shows almost</a:t>
            </a:r>
            <a:r>
              <a:rPr lang="cs-CZ" dirty="0"/>
              <a:t> </a:t>
            </a:r>
            <a:r>
              <a:rPr lang="en-US" dirty="0"/>
              <a:t>no movement.</a:t>
            </a:r>
            <a:r>
              <a:rPr lang="cs-CZ" dirty="0"/>
              <a:t> </a:t>
            </a:r>
            <a:r>
              <a:rPr lang="en-US" dirty="0"/>
              <a:t>Third: population normalization reverses the country rankings completely.</a:t>
            </a:r>
            <a:r>
              <a:rPr lang="cs-CZ" dirty="0"/>
              <a:t> </a:t>
            </a:r>
            <a:r>
              <a:rPr lang="en-US" dirty="0"/>
              <a:t>Germany dominates the raw charts; Sweden, Finland, and Estonia</a:t>
            </a:r>
            <a:r>
              <a:rPr lang="cs-CZ" dirty="0"/>
              <a:t> </a:t>
            </a:r>
            <a:r>
              <a:rPr lang="en-US" dirty="0"/>
              <a:t>lead the per-million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summarize: we built a fully static, browser-based platform that brings</a:t>
            </a:r>
            <a:r>
              <a:rPr lang="cs-CZ" dirty="0"/>
              <a:t> </a:t>
            </a:r>
            <a:r>
              <a:rPr lang="en-US" dirty="0"/>
              <a:t>geographic, temporal, and comparative visualization to a dataset that</a:t>
            </a:r>
            <a:r>
              <a:rPr lang="cs-CZ" dirty="0"/>
              <a:t> </a:t>
            </a:r>
            <a:r>
              <a:rPr lang="en-US" dirty="0"/>
              <a:t>previously required manual spreadsheet work to navigate.</a:t>
            </a:r>
            <a:r>
              <a:rPr lang="cs-CZ" dirty="0"/>
              <a:t> </a:t>
            </a:r>
            <a:r>
              <a:rPr lang="en-US" dirty="0"/>
              <a:t>Thank you for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Visualization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8C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Informatics Education Statistics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A8C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European Universities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200400" cy="36576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Bc. Břetislav Milota  ·  Bc. Martin Schön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4D4"/>
                </a:solidFill>
              </a:rPr>
              <a:t>Dept. of Computer Science &amp; Engineering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4D4"/>
                </a:solidFill>
              </a:rPr>
              <a:t>Faculty of Applied Sciences, University of West Bohemia, </a:t>
            </a:r>
            <a:r>
              <a:rPr lang="en-US" sz="1400" noProof="0" dirty="0">
                <a:solidFill>
                  <a:srgbClr val="A8C4D4"/>
                </a:solidFill>
              </a:rPr>
              <a:t>Pilsen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834640"/>
            <a:ext cx="1920240" cy="502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68580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D62"/>
                </a:solidFill>
              </a:rPr>
              <a:t>KIV/VI — May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2A45"/>
          </a:solidFill>
          <a:ln w="12700">
            <a:solidFill>
              <a:srgbClr val="002A4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8AAA"/>
                </a:solidFill>
              </a:rPr>
              <a:t>University of West Bohemia  ·  Information Visualization  ·  May 2026</a:t>
            </a:r>
            <a:endParaRPr lang="en-US" sz="1000" dirty="0"/>
          </a:p>
        </p:txBody>
      </p:sp>
      <p:pic>
        <p:nvPicPr>
          <p:cNvPr id="18" name="Zvuk 17">
            <a:hlinkClick r:id="" action="ppaction://media"/>
            <a:extLst>
              <a:ext uri="{FF2B5EF4-FFF2-40B4-BE49-F238E27FC236}">
                <a16:creationId xmlns:a16="http://schemas.microsoft.com/office/drawing/2014/main" id="{DF0F40E8-C6D9-CD45-5709-CD347B42F2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063"/>
    </mc:Choice>
    <mc:Fallback>
      <p:transition spd="slow" advTm="180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THE PROBLEM &amp; GOAL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0"/>
                </a:solidFill>
              </a:rPr>
              <a:t>2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3931920" cy="329184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45720" cy="329184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A8F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040"/>
                </a:solidFill>
              </a:rPr>
              <a:t>Informatics Europe (IE)</a:t>
            </a:r>
            <a:r>
              <a:rPr lang="en-US" sz="1350" dirty="0">
                <a:solidFill>
                  <a:srgbClr val="1E3040"/>
                </a:solidFill>
              </a:rPr>
              <a:t> maintains time-series data on student enrollment, graduation rates, and female representation across Europe.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3040"/>
                </a:solidFill>
              </a:rPr>
              <a:t>But all of it lives in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0A500"/>
                </a:solidFill>
              </a:rPr>
              <a:t>Excel workbooks</a:t>
            </a:r>
            <a:r>
              <a:rPr lang="en-US" sz="1350" dirty="0">
                <a:solidFill>
                  <a:srgbClr val="1E3040"/>
                </a:solidFill>
              </a:rPr>
              <a:t> — requiring manual effort to find patterns.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A7080"/>
                </a:solidFill>
              </a:rPr>
              <a:t>Existing portals offer only tabular views. Geographic and temporal trends are invisible.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685800"/>
            <a:ext cx="3931920" cy="329184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4572000" y="685800"/>
            <a:ext cx="45720" cy="329184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709160" y="777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A8F"/>
                </a:solidFill>
              </a:rPr>
              <a:t>Our Goal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1181100"/>
            <a:ext cx="3611880" cy="2659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040"/>
                </a:solidFill>
              </a:rPr>
              <a:t>A unified, browser-based platform</a:t>
            </a:r>
            <a:r>
              <a:rPr lang="en-US" sz="1350" dirty="0">
                <a:solidFill>
                  <a:srgbClr val="1E3040"/>
                </a:solidFill>
              </a:rPr>
              <a:t> that transforms raw spreadsheets into interactive multi-level visualizations.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E3040"/>
                </a:solidFill>
              </a:rPr>
              <a:t>Serving: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A7080"/>
                </a:solidFill>
              </a:rPr>
              <a:t>  →  Researchers &amp; policy makers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A7080"/>
                </a:solidFill>
              </a:rPr>
              <a:t>  →  University administrators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A7080"/>
                </a:solidFill>
              </a:rPr>
              <a:t>  →  IE staff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381760" y="4160520"/>
            <a:ext cx="1920240" cy="73152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1381760" y="4160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A8F"/>
                </a:solidFill>
              </a:rPr>
              <a:t>&gt;200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81760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080"/>
                </a:solidFill>
              </a:rPr>
              <a:t>Institutions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84880" y="4160520"/>
            <a:ext cx="1920240" cy="73152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3484880" y="4160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cs-CZ" sz="2400" b="1" dirty="0">
                <a:solidFill>
                  <a:srgbClr val="005A8F"/>
                </a:solidFill>
              </a:rPr>
              <a:t>34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84880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080"/>
                </a:solidFill>
              </a:rPr>
              <a:t>Countries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88000" y="4160520"/>
            <a:ext cx="1920240" cy="73152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5588000" y="4160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A8F"/>
                </a:solidFill>
              </a:rPr>
              <a:t>14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88000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080"/>
                </a:solidFill>
              </a:rPr>
              <a:t>Years of data</a:t>
            </a:r>
            <a:endParaRPr lang="en-US" sz="1100" dirty="0"/>
          </a:p>
        </p:txBody>
      </p:sp>
      <p:pic>
        <p:nvPicPr>
          <p:cNvPr id="23" name="Zvuk 22">
            <a:hlinkClick r:id="" action="ppaction://media"/>
            <a:extLst>
              <a:ext uri="{FF2B5EF4-FFF2-40B4-BE49-F238E27FC236}">
                <a16:creationId xmlns:a16="http://schemas.microsoft.com/office/drawing/2014/main" id="{C9D156EF-5746-9BAC-EB57-B58839FDB1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733"/>
    </mc:Choice>
    <mc:Fallback>
      <p:transition spd="slow" advTm="387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INTERACTIVE 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s-CZ" sz="1000" dirty="0">
                <a:solidFill>
                  <a:srgbClr val="5A7080"/>
                </a:solidFill>
              </a:rPr>
              <a:t>3</a:t>
            </a:r>
            <a:r>
              <a:rPr lang="en-US" sz="1000" dirty="0">
                <a:solidFill>
                  <a:srgbClr val="5A7080"/>
                </a:solidFill>
              </a:rPr>
              <a:t> / 10</a:t>
            </a:r>
            <a:endParaRPr lang="en-US" sz="1000" dirty="0"/>
          </a:p>
        </p:txBody>
      </p:sp>
      <p:pic>
        <p:nvPicPr>
          <p:cNvPr id="5" name="Image 0" descr="/home/claude/poster_imgs/map_europ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040" y="594360"/>
            <a:ext cx="557784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1193945"/>
            <a:ext cx="2743200" cy="91440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>
            <a:off x="6080760" y="1193945"/>
            <a:ext cx="45720" cy="91440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/>
          <p:nvPr/>
        </p:nvSpPr>
        <p:spPr>
          <a:xfrm>
            <a:off x="6236208" y="1248809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A8F"/>
                </a:solidFill>
              </a:rPr>
              <a:t>Clustered Markers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6208" y="1532273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040"/>
                </a:solidFill>
              </a:rPr>
              <a:t>Automatically group at low zoom — click or zoom to expand to individual institutions.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2236361"/>
            <a:ext cx="2743200" cy="91440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6080760" y="2236361"/>
            <a:ext cx="45720" cy="91440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/>
          <p:nvPr/>
        </p:nvSpPr>
        <p:spPr>
          <a:xfrm>
            <a:off x="6236208" y="2291225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A8F"/>
                </a:solidFill>
              </a:rPr>
              <a:t>Color Coding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257468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040"/>
                </a:solidFill>
              </a:rPr>
              <a:t>Green = IE member institutions.  Blue = general institutions.  Red = selected.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80760" y="3273552"/>
            <a:ext cx="2743200" cy="91440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6"/>
          <p:cNvSpPr/>
          <p:nvPr/>
        </p:nvSpPr>
        <p:spPr>
          <a:xfrm>
            <a:off x="6080760" y="3273552"/>
            <a:ext cx="45720" cy="91440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7"/>
          <p:cNvSpPr/>
          <p:nvPr/>
        </p:nvSpPr>
        <p:spPr>
          <a:xfrm>
            <a:off x="6236208" y="33284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A8F"/>
                </a:solidFill>
              </a:rPr>
              <a:t>Department Level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6208" y="3611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040"/>
                </a:solidFill>
              </a:rPr>
              <a:t>Zooming into a country reveals individual department markers, not just universities.</a:t>
            </a:r>
            <a:endParaRPr lang="en-US" sz="1050" dirty="0"/>
          </a:p>
        </p:txBody>
      </p:sp>
      <p:pic>
        <p:nvPicPr>
          <p:cNvPr id="15" name="Zvuk 14">
            <a:hlinkClick r:id="" action="ppaction://media"/>
            <a:extLst>
              <a:ext uri="{FF2B5EF4-FFF2-40B4-BE49-F238E27FC236}">
                <a16:creationId xmlns:a16="http://schemas.microsoft.com/office/drawing/2014/main" id="{66EA9529-CE6F-D770-41C8-1F7D3CAC1A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14"/>
    </mc:Choice>
    <mc:Fallback>
      <p:transition spd="slow" advTm="268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CHOROPLETH LAYER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s-CZ" sz="1000" dirty="0">
                <a:solidFill>
                  <a:srgbClr val="5A7080"/>
                </a:solidFill>
              </a:rPr>
              <a:t>4</a:t>
            </a:r>
            <a:r>
              <a:rPr lang="en-US" sz="1000" dirty="0">
                <a:solidFill>
                  <a:srgbClr val="5A7080"/>
                </a:solidFill>
              </a:rPr>
              <a:t> /</a:t>
            </a:r>
            <a:r>
              <a:rPr lang="cs-CZ" sz="1000" dirty="0">
                <a:solidFill>
                  <a:srgbClr val="5A7080"/>
                </a:solidFill>
              </a:rPr>
              <a:t> </a:t>
            </a:r>
            <a:r>
              <a:rPr lang="en-US" sz="1000" dirty="0">
                <a:solidFill>
                  <a:srgbClr val="5A7080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040"/>
                </a:solidFill>
              </a:rPr>
              <a:t>9 configurable combinations — {BSc, MSc, PhD} × {enrolled, first-year, degrees} — with 4 metrics each</a:t>
            </a:r>
            <a:endParaRPr lang="en-US" sz="1300" dirty="0"/>
          </a:p>
        </p:txBody>
      </p:sp>
      <p:pic>
        <p:nvPicPr>
          <p:cNvPr id="6" name="Image 0" descr="/home/claude/poster_imgs/choropleth_201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040" y="1097280"/>
            <a:ext cx="4160520" cy="2304288"/>
          </a:xfrm>
          <a:prstGeom prst="rect">
            <a:avLst/>
          </a:prstGeom>
        </p:spPr>
      </p:pic>
      <p:pic>
        <p:nvPicPr>
          <p:cNvPr id="7" name="Image 1" descr="/home/claude/poster_imgs/choropleth_202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3440" y="1097280"/>
            <a:ext cx="4160520" cy="230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29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080"/>
                </a:solidFill>
              </a:rPr>
              <a:t>Female BSc count — 2010/11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63440" y="3429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080"/>
                </a:solidFill>
              </a:rPr>
              <a:t>Female BSc count — 2023/24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794760" y="33329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</a:rPr>
              <a:t>13 years →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0040" y="3749040"/>
            <a:ext cx="8503920" cy="77724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2" name="Shape 8"/>
          <p:cNvSpPr/>
          <p:nvPr/>
        </p:nvSpPr>
        <p:spPr>
          <a:xfrm>
            <a:off x="320040" y="3749040"/>
            <a:ext cx="45720" cy="77724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9"/>
          <p:cNvSpPr/>
          <p:nvPr/>
        </p:nvSpPr>
        <p:spPr>
          <a:xfrm>
            <a:off x="502920" y="376732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A8F"/>
                </a:solidFill>
              </a:rPr>
              <a:t>Key insight: </a:t>
            </a:r>
            <a:r>
              <a:rPr lang="en-US" sz="1250" dirty="0">
                <a:solidFill>
                  <a:srgbClr val="1E3040"/>
                </a:solidFill>
              </a:rPr>
              <a:t>Absolute female counts </a:t>
            </a:r>
            <a:r>
              <a:rPr lang="en-US" sz="1250" b="1" dirty="0">
                <a:solidFill>
                  <a:srgbClr val="2F77A2"/>
                </a:solidFill>
              </a:rPr>
              <a:t>grew</a:t>
            </a:r>
            <a:r>
              <a:rPr lang="en-US" sz="1250" dirty="0">
                <a:solidFill>
                  <a:srgbClr val="1E3040"/>
                </a:solidFill>
              </a:rPr>
              <a:t> in most countries from 2010 to 2024 — yet the </a:t>
            </a:r>
            <a:r>
              <a:rPr lang="en-US" sz="1250" b="1" dirty="0">
                <a:solidFill>
                  <a:srgbClr val="F0A500"/>
                </a:solidFill>
              </a:rPr>
              <a:t>relative share barely changed.</a:t>
            </a:r>
            <a:r>
              <a:rPr lang="en-US" sz="1250" dirty="0">
                <a:solidFill>
                  <a:srgbClr val="5A7080"/>
                </a:solidFill>
              </a:rPr>
              <a:t> This is invisible in tables, immediately obvious in the choropleth.</a:t>
            </a:r>
            <a:endParaRPr lang="en-US" sz="1250" dirty="0"/>
          </a:p>
        </p:txBody>
      </p:sp>
      <p:pic>
        <p:nvPicPr>
          <p:cNvPr id="15" name="Zvuk 14">
            <a:hlinkClick r:id="" action="ppaction://media"/>
            <a:extLst>
              <a:ext uri="{FF2B5EF4-FFF2-40B4-BE49-F238E27FC236}">
                <a16:creationId xmlns:a16="http://schemas.microsoft.com/office/drawing/2014/main" id="{E28531B0-BD24-D452-931E-218D90BB89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700"/>
    </mc:Choice>
    <mc:Fallback>
      <p:transition spd="slow" advTm="43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STATISTICAL CHARTS  —  ENROLLMENT &amp; DEGREES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s-CZ" sz="1000" dirty="0">
                <a:solidFill>
                  <a:srgbClr val="5A7080"/>
                </a:solidFill>
              </a:rPr>
              <a:t>5</a:t>
            </a:r>
            <a:r>
              <a:rPr lang="en-US" sz="1000" dirty="0">
                <a:solidFill>
                  <a:srgbClr val="5A7080"/>
                </a:solidFill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8F"/>
                </a:solidFill>
              </a:rPr>
              <a:t>Enrollment Trends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9692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</a:rPr>
              <a:t>Stacked bars split first-year vs. returning cohorts for bachelors.</a:t>
            </a:r>
            <a:endParaRPr lang="en-US" sz="1100" dirty="0"/>
          </a:p>
        </p:txBody>
      </p:sp>
      <p:pic>
        <p:nvPicPr>
          <p:cNvPr id="7" name="Image 0" descr="/home/claude/app_screenshots/enrollment_trend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040" y="1371600"/>
            <a:ext cx="4206240" cy="2331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6217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8F"/>
                </a:solidFill>
              </a:rPr>
              <a:t>Degrees Awarded Over Time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0" y="96926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</a:rPr>
              <a:t>Line chart tracking total degrees per year — shows academic output trajectory.</a:t>
            </a:r>
            <a:endParaRPr lang="en-US" sz="1100" dirty="0"/>
          </a:p>
        </p:txBody>
      </p:sp>
      <p:pic>
        <p:nvPicPr>
          <p:cNvPr id="10" name="Image 1" descr="/home/claude/app_screenshots/degrees_awar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1371600"/>
            <a:ext cx="406908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" y="3794760"/>
            <a:ext cx="4206240" cy="91440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12" name="Shape 8"/>
          <p:cNvSpPr/>
          <p:nvPr/>
        </p:nvSpPr>
        <p:spPr>
          <a:xfrm>
            <a:off x="320040" y="3794760"/>
            <a:ext cx="45720" cy="91440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9"/>
          <p:cNvSpPr/>
          <p:nvPr/>
        </p:nvSpPr>
        <p:spPr>
          <a:xfrm>
            <a:off x="45720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A8F"/>
                </a:solidFill>
              </a:rPr>
              <a:t>Enrollment Over Time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4114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5A7080"/>
                </a:solidFill>
              </a:rPr>
              <a:t>BSc, MSc and PhD per country – from Informatics Europe data.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3794760"/>
            <a:ext cx="4069080" cy="914400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2"/>
          <p:cNvSpPr/>
          <p:nvPr/>
        </p:nvSpPr>
        <p:spPr>
          <a:xfrm>
            <a:off x="4754880" y="3794760"/>
            <a:ext cx="45720" cy="91440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3"/>
          <p:cNvSpPr/>
          <p:nvPr/>
        </p:nvSpPr>
        <p:spPr>
          <a:xfrm>
            <a:off x="489204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A8F"/>
                </a:solidFill>
              </a:rPr>
              <a:t>Graduates Over Time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92040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A7080"/>
                </a:solidFill>
              </a:rPr>
              <a:t>Line chart of BSc and MSc graduates per institution — from Informatics Europe data.</a:t>
            </a:r>
            <a:endParaRPr lang="en-US" sz="1000" dirty="0"/>
          </a:p>
        </p:txBody>
      </p:sp>
      <p:pic>
        <p:nvPicPr>
          <p:cNvPr id="20" name="Zvuk 19">
            <a:hlinkClick r:id="" action="ppaction://media"/>
            <a:extLst>
              <a:ext uri="{FF2B5EF4-FFF2-40B4-BE49-F238E27FC236}">
                <a16:creationId xmlns:a16="http://schemas.microsoft.com/office/drawing/2014/main" id="{459389BA-7F1E-03E1-7B3E-1EE47B2173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175"/>
    </mc:Choice>
    <mc:Fallback>
      <p:transition spd="slow" advTm="27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STATISTICAL CHARTS  —  </a:t>
            </a:r>
            <a:r>
              <a:rPr lang="cs-CZ" sz="1300" b="1" kern="0" spc="300" dirty="0">
                <a:solidFill>
                  <a:srgbClr val="FFFFFF"/>
                </a:solidFill>
              </a:rPr>
              <a:t>FEMALE REPRESENTATION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s-CZ" sz="1000" dirty="0">
                <a:solidFill>
                  <a:srgbClr val="5A7080"/>
                </a:solidFill>
              </a:rPr>
              <a:t>6</a:t>
            </a:r>
            <a:r>
              <a:rPr lang="en-US" sz="1000" dirty="0">
                <a:solidFill>
                  <a:srgbClr val="5A7080"/>
                </a:solidFill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8F"/>
                </a:solidFill>
              </a:rPr>
              <a:t>Female Representation Trend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9692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</a:rPr>
              <a:t>BSc vs MSc female share per year — exposes whether the gap differs between programme levels.</a:t>
            </a:r>
            <a:endParaRPr lang="en-US" sz="1100" dirty="0"/>
          </a:p>
        </p:txBody>
      </p:sp>
      <p:pic>
        <p:nvPicPr>
          <p:cNvPr id="7" name="Image 0" descr="/home/claude/app_screenshots/female_representatio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040" y="1371600"/>
            <a:ext cx="420624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6217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8F"/>
                </a:solidFill>
              </a:rPr>
              <a:t>Female Representation — Side-by-Side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0" y="96926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</a:rPr>
              <a:t>Four lines: BSc &amp; MSc for two countries. Colour = degree level, line style = country.</a:t>
            </a:r>
            <a:endParaRPr lang="en-US" sz="1100" dirty="0"/>
          </a:p>
        </p:txBody>
      </p:sp>
      <p:pic>
        <p:nvPicPr>
          <p:cNvPr id="10" name="Image 1" descr="/home/claude/app_screenshots/female_representation_compariso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1371600"/>
            <a:ext cx="4069080" cy="2377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EBF4FA"/>
          </a:solidFill>
          <a:ln w="6350">
            <a:solidFill>
              <a:srgbClr val="C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2" name="Shape 8"/>
          <p:cNvSpPr/>
          <p:nvPr/>
        </p:nvSpPr>
        <p:spPr>
          <a:xfrm>
            <a:off x="320040" y="3858768"/>
            <a:ext cx="45720" cy="804672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9"/>
          <p:cNvSpPr/>
          <p:nvPr/>
        </p:nvSpPr>
        <p:spPr>
          <a:xfrm>
            <a:off x="502920" y="3877056"/>
            <a:ext cx="8138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A8F"/>
                </a:solidFill>
              </a:rPr>
              <a:t>Key insight: </a:t>
            </a:r>
            <a:r>
              <a:rPr lang="en-US" sz="1200" dirty="0">
                <a:solidFill>
                  <a:srgbClr val="1E3040"/>
                </a:solidFill>
              </a:rPr>
              <a:t>MSc female share is consistently </a:t>
            </a:r>
            <a:r>
              <a:rPr lang="en-US" sz="1200" b="1" dirty="0">
                <a:solidFill>
                  <a:srgbClr val="2F77A2"/>
                </a:solidFill>
              </a:rPr>
              <a:t>higher</a:t>
            </a:r>
            <a:r>
              <a:rPr lang="en-US" sz="1200" dirty="0">
                <a:solidFill>
                  <a:srgbClr val="5A7080"/>
                </a:solidFill>
              </a:rPr>
              <a:t> than BSc in most countries — yet both remain well below 30%. The comparison view makes cross-country divergence immediately visible.</a:t>
            </a:r>
            <a:endParaRPr lang="en-US" sz="1200" dirty="0"/>
          </a:p>
        </p:txBody>
      </p:sp>
      <p:pic>
        <p:nvPicPr>
          <p:cNvPr id="23" name="Zvuk 22">
            <a:hlinkClick r:id="" action="ppaction://media"/>
            <a:extLst>
              <a:ext uri="{FF2B5EF4-FFF2-40B4-BE49-F238E27FC236}">
                <a16:creationId xmlns:a16="http://schemas.microsoft.com/office/drawing/2014/main" id="{BDF94070-2A90-ACF9-8BE4-B82DFCDA4B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204"/>
    </mc:Choice>
    <mc:Fallback>
      <p:transition spd="slow" advTm="322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STATISTICAL CHARTS  —  EUROPEAN CONTEXT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s-CZ" sz="1000" dirty="0">
                <a:solidFill>
                  <a:srgbClr val="5A7080"/>
                </a:solidFill>
              </a:rPr>
              <a:t>7</a:t>
            </a:r>
            <a:r>
              <a:rPr lang="en-US" sz="1000" dirty="0">
                <a:solidFill>
                  <a:srgbClr val="5A7080"/>
                </a:solidFill>
              </a:rPr>
              <a:t>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228625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A8F"/>
                </a:solidFill>
              </a:rPr>
              <a:t>European Student Distribution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530377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080"/>
                </a:solidFill>
              </a:rPr>
              <a:t>Each country's proportional share of total EU informatics students.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54880" y="1228625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A8F"/>
                </a:solidFill>
              </a:rPr>
              <a:t>Absolute Scale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1530377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080"/>
                </a:solidFill>
              </a:rPr>
              <a:t>Raw enrollment per country — large nations (Germany, UK, Turkey) dominate.</a:t>
            </a:r>
            <a:endParaRPr lang="en-US" sz="1050" dirty="0"/>
          </a:p>
        </p:txBody>
      </p:sp>
      <p:pic>
        <p:nvPicPr>
          <p:cNvPr id="10" name="Image 1" descr="/home/claude/app_screenshots/absolute_scal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0" y="1868705"/>
            <a:ext cx="4069080" cy="16916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84E537-D58E-18D4-7F7A-9560F3553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1" y="1868705"/>
            <a:ext cx="3881738" cy="2261053"/>
          </a:xfrm>
          <a:prstGeom prst="rect">
            <a:avLst/>
          </a:prstGeom>
        </p:spPr>
      </p:pic>
      <p:pic>
        <p:nvPicPr>
          <p:cNvPr id="24" name="Zvuk 23">
            <a:hlinkClick r:id="" action="ppaction://media"/>
            <a:extLst>
              <a:ext uri="{FF2B5EF4-FFF2-40B4-BE49-F238E27FC236}">
                <a16:creationId xmlns:a16="http://schemas.microsoft.com/office/drawing/2014/main" id="{865E6994-01E7-97B0-7831-9A462CE9E6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09"/>
    </mc:Choice>
    <mc:Fallback>
      <p:transition spd="slow" advTm="177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12A99-6111-2A72-C828-F6185A9B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13DBE7-C159-0400-884A-7A6EA801D69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3B811D-D1F7-DF12-3901-82B01CC17043}"/>
              </a:ext>
            </a:extLst>
          </p:cNvPr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STATISTICAL CHARTS  —  EUROPEAN CONTEXT 2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484B04-E28F-FE67-FA3D-9D5CA576152D}"/>
              </a:ext>
            </a:extLst>
          </p:cNvPr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0"/>
                </a:solidFill>
              </a:rPr>
              <a:t>8 / 10</a:t>
            </a:r>
            <a:endParaRPr lang="en-US" sz="1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5A62D5D-60DC-7516-DEDF-95A32E1F632A}"/>
              </a:ext>
            </a:extLst>
          </p:cNvPr>
          <p:cNvSpPr/>
          <p:nvPr/>
        </p:nvSpPr>
        <p:spPr>
          <a:xfrm>
            <a:off x="365759" y="1127091"/>
            <a:ext cx="5301669" cy="43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A8F"/>
                </a:solidFill>
              </a:rPr>
              <a:t>National Density</a:t>
            </a:r>
            <a:endParaRPr lang="en-US" sz="13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64BCD53-DCD7-3270-A2E7-440A9EEA38A2}"/>
              </a:ext>
            </a:extLst>
          </p:cNvPr>
          <p:cNvSpPr/>
          <p:nvPr/>
        </p:nvSpPr>
        <p:spPr>
          <a:xfrm>
            <a:off x="365758" y="1502091"/>
            <a:ext cx="5301669" cy="435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080"/>
                </a:solidFill>
              </a:rPr>
              <a:t>Students per million inhabitants — reverses the ranking; small Nordic nations lead.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645450-9FA7-5A0D-FC60-DA7461697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01" y="1937666"/>
            <a:ext cx="5387062" cy="2291050"/>
          </a:xfrm>
          <a:prstGeom prst="rect">
            <a:avLst/>
          </a:prstGeom>
        </p:spPr>
      </p:pic>
      <p:pic>
        <p:nvPicPr>
          <p:cNvPr id="19" name="Zvuk 18">
            <a:hlinkClick r:id="" action="ppaction://media"/>
            <a:extLst>
              <a:ext uri="{FF2B5EF4-FFF2-40B4-BE49-F238E27FC236}">
                <a16:creationId xmlns:a16="http://schemas.microsoft.com/office/drawing/2014/main" id="{8FA96D34-8C2B-CB5C-65CA-A6CCE198D5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88234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57"/>
    </mc:Choice>
    <mc:Fallback>
      <p:transition spd="slow" advTm="112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0"/>
                </a:solidFill>
              </a:rPr>
              <a:t>9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114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4114800" cy="54864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57200" y="795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A8F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9848" y="795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040"/>
                </a:solidFill>
              </a:rPr>
              <a:t>The gender gap persists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080"/>
                </a:solidFill>
              </a:rPr>
              <a:t>Most European countries show fewer than 25% female students at BSc level — a ratio barely changed over 14 years.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658368"/>
            <a:ext cx="4114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4709160" y="658368"/>
            <a:ext cx="4114800" cy="54864"/>
          </a:xfrm>
          <a:prstGeom prst="rect">
            <a:avLst/>
          </a:prstGeom>
          <a:solidFill>
            <a:srgbClr val="2F77A2"/>
          </a:solidFill>
          <a:ln w="12700">
            <a:solidFill>
              <a:srgbClr val="2F77A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4846320" y="795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77A2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58968" y="795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040"/>
                </a:solidFill>
              </a:rPr>
              <a:t>Growth masks stagnation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38988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080"/>
                </a:solidFill>
              </a:rPr>
              <a:t>Absolute female enrollment grew in most countries, yet the relative share is nearly unchanged. Choropleth maps make this immediately visible.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2752344"/>
            <a:ext cx="4114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2514600" y="2752344"/>
            <a:ext cx="41148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2651760" y="28895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64408" y="28895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040"/>
                </a:solidFill>
              </a:rPr>
              <a:t>Population normalization reverses rankings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3483864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080"/>
                </a:solidFill>
              </a:rPr>
              <a:t>Sweden, Finland, and Estonia top the density charts — invisible in raw figures dominated by Germany.</a:t>
            </a:r>
            <a:endParaRPr lang="en-US" sz="1200" dirty="0"/>
          </a:p>
        </p:txBody>
      </p:sp>
      <p:pic>
        <p:nvPicPr>
          <p:cNvPr id="27" name="Zvuk 26">
            <a:hlinkClick r:id="" action="ppaction://media"/>
            <a:extLst>
              <a:ext uri="{FF2B5EF4-FFF2-40B4-BE49-F238E27FC236}">
                <a16:creationId xmlns:a16="http://schemas.microsoft.com/office/drawing/2014/main" id="{7A91560D-BC32-C25D-D55A-43758231A5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488"/>
    </mc:Choice>
    <mc:Fallback>
      <p:transition spd="slow" advTm="354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8AAA"/>
                </a:solidFill>
              </a:rPr>
              <a:t>10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2286000" cy="36576"/>
          </a:xfrm>
          <a:prstGeom prst="rect">
            <a:avLst/>
          </a:prstGeom>
          <a:solidFill>
            <a:srgbClr val="005A8F"/>
          </a:solidFill>
          <a:ln w="12700">
            <a:solidFill>
              <a:srgbClr val="005A8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618990" cy="3291840"/>
          </a:xfrm>
          <a:prstGeom prst="rect">
            <a:avLst/>
          </a:prstGeom>
          <a:solidFill>
            <a:srgbClr val="002A45"/>
          </a:solidFill>
          <a:ln w="9525">
            <a:solidFill>
              <a:srgbClr val="2F77A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A500"/>
                </a:solidFill>
              </a:rPr>
              <a:t>What we built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239260" cy="2610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fully static Vue 3 SPA</a:t>
            </a:r>
            <a:r>
              <a:rPr lang="en-US" sz="1600" dirty="0">
                <a:solidFill>
                  <a:srgbClr val="A8C4D4"/>
                </a:solidFill>
              </a:rPr>
              <a:t> integrating:
  ·  Geographic choropleth layer
  ·  Clustered interactive map
  ·  Statistical charts (enrollment, gender, density)
  ·  Side-by-side comparison modal
  ·  Search &amp; filter across 200+ institutions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1E30"/>
          </a:solidFill>
          <a:ln w="12700">
            <a:solidFill>
              <a:srgbClr val="001E3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6A8A"/>
                </a:solidFill>
              </a:rPr>
              <a:t>University of West Bohemia  ·  KIV/VI  ·  May 2026</a:t>
            </a:r>
            <a:endParaRPr lang="en-US" sz="1000" dirty="0"/>
          </a:p>
        </p:txBody>
      </p:sp>
      <p:pic>
        <p:nvPicPr>
          <p:cNvPr id="10" name="Zvuk 9">
            <a:hlinkClick r:id="" action="ppaction://media"/>
            <a:extLst>
              <a:ext uri="{FF2B5EF4-FFF2-40B4-BE49-F238E27FC236}">
                <a16:creationId xmlns:a16="http://schemas.microsoft.com/office/drawing/2014/main" id="{4B7BE5D9-2B1A-615C-F382-FFC4720E5E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73"/>
    </mc:Choice>
    <mc:Fallback>
      <p:transition spd="slow" advTm="131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1404</Words>
  <Application>Microsoft Office PowerPoint</Application>
  <PresentationFormat>Předvádění na obrazovce (16:9)</PresentationFormat>
  <Paragraphs>110</Paragraphs>
  <Slides>10</Slides>
  <Notes>10</Notes>
  <HiddenSlides>0</HiddenSlides>
  <MMClips>10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3" baseType="lpstr">
      <vt:lpstr>Arial</vt:lpstr>
      <vt:lpstr>Cambria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Visualization Platform for Informatics Education Statistics</dc:title>
  <dc:subject>PptxGenJS Presentation</dc:subject>
  <dc:creator>Bc. Břetislav Milota, Bc. Martin Schön</dc:creator>
  <cp:lastModifiedBy>Břetislav Milota</cp:lastModifiedBy>
  <cp:revision>7</cp:revision>
  <dcterms:created xsi:type="dcterms:W3CDTF">2026-05-27T17:07:40Z</dcterms:created>
  <dcterms:modified xsi:type="dcterms:W3CDTF">2026-05-28T14:47:05Z</dcterms:modified>
</cp:coreProperties>
</file>