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51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7C1DB-E975-FE65-CDF0-50ADD286E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0EFF-7490-29E3-AF10-150DC798E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B34E7-B911-5D8B-C9FA-E4C43FDE9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68DB0-36B4-1DFB-3305-73754F1F86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89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Visualization 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8C4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Informatics Education Statistics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A8C4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European Universities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3200400" cy="36576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Bc. Břetislav Milota  ·  Bc. Martin Schön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C4D4"/>
                </a:solidFill>
              </a:rPr>
              <a:t>Dept. of Computer Science &amp; Engineering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C4D4"/>
                </a:solidFill>
              </a:rPr>
              <a:t>Faculty of Applied Sciences, University of West Bohemia, </a:t>
            </a:r>
            <a:r>
              <a:rPr lang="en-US" sz="1400" noProof="0" dirty="0">
                <a:solidFill>
                  <a:srgbClr val="A8C4D4"/>
                </a:solidFill>
              </a:rPr>
              <a:t>Pilsen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0" y="2834640"/>
            <a:ext cx="1920240" cy="5029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8580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D62"/>
                </a:solidFill>
              </a:rPr>
              <a:t>KIV/VI — May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2A45"/>
          </a:solidFill>
          <a:ln w="12700">
            <a:solidFill>
              <a:srgbClr val="002A45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8AAA"/>
                </a:solidFill>
              </a:rPr>
              <a:t>University of West Bohemia  ·  Information Visualization  ·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THE PROBLEM &amp; GOAL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2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3931920" cy="32918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45720" cy="32918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5A8F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Informatics Europe (IE)</a:t>
            </a:r>
            <a:r>
              <a:rPr lang="en-US" sz="1350" dirty="0">
                <a:solidFill>
                  <a:srgbClr val="1E3040"/>
                </a:solidFill>
              </a:rPr>
              <a:t> maintains time-series data on student enrollment, graduation rates, and female representation across Europe.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3040"/>
                </a:solidFill>
              </a:rPr>
              <a:t>But all of it lives in 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0A500"/>
                </a:solidFill>
              </a:rPr>
              <a:t>Excel workbooks</a:t>
            </a:r>
            <a:r>
              <a:rPr lang="en-US" sz="1350" dirty="0">
                <a:solidFill>
                  <a:srgbClr val="1E3040"/>
                </a:solidFill>
              </a:rPr>
              <a:t> — requiring manual effort to find patterns.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Existing portals offer only tabular views. Geographic and temporal trends are invisible.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0" y="685800"/>
            <a:ext cx="3931920" cy="32918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4572000" y="685800"/>
            <a:ext cx="45720" cy="32918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470916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5A8F"/>
                </a:solidFill>
              </a:rPr>
              <a:t>Our Goal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1181100"/>
            <a:ext cx="3611880" cy="2659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A unified, browser-based platform</a:t>
            </a:r>
            <a:r>
              <a:rPr lang="en-US" sz="1350" dirty="0">
                <a:solidFill>
                  <a:srgbClr val="1E3040"/>
                </a:solidFill>
              </a:rPr>
              <a:t> that transforms raw spreadsheets into interactive multi-level visualizations.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Serving: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Researchers &amp; policy makers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University administrators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IE staff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38176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138176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5A8F"/>
                </a:solidFill>
              </a:rPr>
              <a:t>&gt;200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8176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Institutions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8488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48488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cs-CZ" sz="2400" b="1" dirty="0">
                <a:solidFill>
                  <a:srgbClr val="005A8F"/>
                </a:solidFill>
              </a:rPr>
              <a:t>34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48488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Countries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8800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558800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5A8F"/>
                </a:solidFill>
              </a:rPr>
              <a:t>14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58800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Years of data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INTERACTIVE 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3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pic>
        <p:nvPicPr>
          <p:cNvPr id="5" name="Image 0" descr="/home/claude/poster_imgs/map_euro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94360"/>
            <a:ext cx="557784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80760" y="621792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7" name="Shape 4"/>
          <p:cNvSpPr/>
          <p:nvPr/>
        </p:nvSpPr>
        <p:spPr>
          <a:xfrm>
            <a:off x="6080760" y="621792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6236208" y="67665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Clustered Markers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236208" y="960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Automatically group at low zoom — click or zoom to expand to individual institutions.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80760" y="1664208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Shape 8"/>
          <p:cNvSpPr/>
          <p:nvPr/>
        </p:nvSpPr>
        <p:spPr>
          <a:xfrm>
            <a:off x="6080760" y="1664208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9"/>
          <p:cNvSpPr/>
          <p:nvPr/>
        </p:nvSpPr>
        <p:spPr>
          <a:xfrm>
            <a:off x="6236208" y="171907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Color Coding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36208" y="200253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Green = IE member institutions.  Blue = general institutions.  Red = selected.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2706624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5" name="Shape 12"/>
          <p:cNvSpPr/>
          <p:nvPr/>
        </p:nvSpPr>
        <p:spPr>
          <a:xfrm>
            <a:off x="6080760" y="2706624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3"/>
          <p:cNvSpPr/>
          <p:nvPr/>
        </p:nvSpPr>
        <p:spPr>
          <a:xfrm>
            <a:off x="6236208" y="276148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Fly-to Animation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36208" y="304495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Selecting an institution from search triggers a smooth map fly-to.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080760" y="3749040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9" name="Shape 16"/>
          <p:cNvSpPr/>
          <p:nvPr/>
        </p:nvSpPr>
        <p:spPr>
          <a:xfrm>
            <a:off x="6080760" y="3749040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7"/>
          <p:cNvSpPr/>
          <p:nvPr/>
        </p:nvSpPr>
        <p:spPr>
          <a:xfrm>
            <a:off x="6236208" y="3803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Department Level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36208" y="408736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Zooming into a country reveals individual department markers, not just universities.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CHOROPLETH LAYER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4</a:t>
            </a:r>
            <a:r>
              <a:rPr lang="en-US" sz="1000" dirty="0">
                <a:solidFill>
                  <a:srgbClr val="5A7080"/>
                </a:solidFill>
              </a:rPr>
              <a:t> /</a:t>
            </a:r>
            <a:r>
              <a:rPr lang="cs-CZ" sz="1000" dirty="0">
                <a:solidFill>
                  <a:srgbClr val="5A7080"/>
                </a:solidFill>
              </a:rPr>
              <a:t> </a:t>
            </a:r>
            <a:r>
              <a:rPr lang="en-US" sz="1000" dirty="0">
                <a:solidFill>
                  <a:srgbClr val="5A7080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040"/>
                </a:solidFill>
              </a:rPr>
              <a:t>9 configurable combinations — {BSc, MSc, PhD} × {enrolled, first-year, degrees} — with 4 metrics each</a:t>
            </a:r>
            <a:endParaRPr lang="en-US" sz="1300" dirty="0"/>
          </a:p>
        </p:txBody>
      </p:sp>
      <p:pic>
        <p:nvPicPr>
          <p:cNvPr id="6" name="Image 0" descr="/home/claude/poster_imgs/choropleth_201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097280"/>
            <a:ext cx="4160520" cy="2304288"/>
          </a:xfrm>
          <a:prstGeom prst="rect">
            <a:avLst/>
          </a:prstGeom>
        </p:spPr>
      </p:pic>
      <p:pic>
        <p:nvPicPr>
          <p:cNvPr id="7" name="Image 1" descr="/home/claude/poster_imgs/choropleth_2023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097280"/>
            <a:ext cx="4160520" cy="230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7080"/>
                </a:solidFill>
              </a:rPr>
              <a:t>Female BSc count — 2010/11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663440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7080"/>
                </a:solidFill>
              </a:rPr>
              <a:t>Female BSc count — 2023/24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794760" y="33329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A500"/>
                </a:solidFill>
              </a:rPr>
              <a:t>13 years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20040" y="3749040"/>
            <a:ext cx="8503920" cy="7772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2" name="Shape 8"/>
          <p:cNvSpPr/>
          <p:nvPr/>
        </p:nvSpPr>
        <p:spPr>
          <a:xfrm>
            <a:off x="320040" y="3749040"/>
            <a:ext cx="45720" cy="7772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502920" y="3767328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A8F"/>
                </a:solidFill>
              </a:rPr>
              <a:t>Key insight: </a:t>
            </a:r>
            <a:r>
              <a:rPr lang="en-US" sz="1250" dirty="0">
                <a:solidFill>
                  <a:srgbClr val="1E3040"/>
                </a:solidFill>
              </a:rPr>
              <a:t>Absolute female counts </a:t>
            </a:r>
            <a:r>
              <a:rPr lang="en-US" sz="1250" b="1" dirty="0">
                <a:solidFill>
                  <a:srgbClr val="2F77A2"/>
                </a:solidFill>
              </a:rPr>
              <a:t>grew</a:t>
            </a:r>
            <a:r>
              <a:rPr lang="en-US" sz="1250" dirty="0">
                <a:solidFill>
                  <a:srgbClr val="1E3040"/>
                </a:solidFill>
              </a:rPr>
              <a:t> in most countries from 2010 to 2024 — yet the </a:t>
            </a:r>
            <a:r>
              <a:rPr lang="en-US" sz="1250" b="1" dirty="0">
                <a:solidFill>
                  <a:srgbClr val="F0A500"/>
                </a:solidFill>
              </a:rPr>
              <a:t>relative share barely changed.</a:t>
            </a:r>
            <a:r>
              <a:rPr lang="en-US" sz="1250" dirty="0">
                <a:solidFill>
                  <a:srgbClr val="5A7080"/>
                </a:solidFill>
              </a:rPr>
              <a:t> This is invisible in tables, immediately obvious in the choropleth.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ENROLLMENT &amp; DEGREES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5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Enrollment Trends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9692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Stacked bars split first-year vs. returning cohorts for bachelors.</a:t>
            </a:r>
            <a:endParaRPr lang="en-US" sz="1100" dirty="0"/>
          </a:p>
        </p:txBody>
      </p:sp>
      <p:pic>
        <p:nvPicPr>
          <p:cNvPr id="7" name="Image 0" descr="/home/claude/app_screenshots/enrollment_trend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71600"/>
            <a:ext cx="4206240" cy="2331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62179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Degrees Awarded Over Time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754880" y="969264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Line chart tracking total degrees per year — shows academic output trajectory.</a:t>
            </a:r>
            <a:endParaRPr lang="en-US" sz="1100" dirty="0"/>
          </a:p>
        </p:txBody>
      </p:sp>
      <p:pic>
        <p:nvPicPr>
          <p:cNvPr id="10" name="Image 1" descr="/home/claude/app_screenshots/degrees_awar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371600"/>
            <a:ext cx="4069080" cy="2331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3794760"/>
            <a:ext cx="420624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2" name="Shape 8"/>
          <p:cNvSpPr/>
          <p:nvPr/>
        </p:nvSpPr>
        <p:spPr>
          <a:xfrm>
            <a:off x="320040" y="3794760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45720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A8F"/>
                </a:solidFill>
              </a:rPr>
              <a:t>Enrollment Over Time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41148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noProof="0" dirty="0">
                <a:solidFill>
                  <a:srgbClr val="5A7080"/>
                </a:solidFill>
              </a:rPr>
              <a:t>BSc, MSc and PhD per country – from Informatics Europe data.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54880" y="3794760"/>
            <a:ext cx="406908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Shape 12"/>
          <p:cNvSpPr/>
          <p:nvPr/>
        </p:nvSpPr>
        <p:spPr>
          <a:xfrm>
            <a:off x="4754880" y="3794760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3"/>
          <p:cNvSpPr/>
          <p:nvPr/>
        </p:nvSpPr>
        <p:spPr>
          <a:xfrm>
            <a:off x="489204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A8F"/>
                </a:solidFill>
              </a:rPr>
              <a:t>Graduates Over Time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892040" y="4114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A7080"/>
                </a:solidFill>
              </a:rPr>
              <a:t>Line chart of BSc and MSc graduates per institution — from Informatics Europe data.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GENDER ANALYSIS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6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Female Representation Trend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9692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BSc vs MSc female share per year — exposes whether the gap differs between programme levels.</a:t>
            </a:r>
            <a:endParaRPr lang="en-US" sz="1100" dirty="0"/>
          </a:p>
        </p:txBody>
      </p:sp>
      <p:pic>
        <p:nvPicPr>
          <p:cNvPr id="7" name="Image 0" descr="/home/claude/app_screenshots/female_represent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71600"/>
            <a:ext cx="4206240" cy="2377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62179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Female Representation — Side-by-Side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754880" y="969264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Four lines: BSc &amp; MSc for two countries. Colour = degree level, line style = country.</a:t>
            </a:r>
            <a:endParaRPr lang="en-US" sz="1100" dirty="0"/>
          </a:p>
        </p:txBody>
      </p:sp>
      <p:pic>
        <p:nvPicPr>
          <p:cNvPr id="10" name="Image 1" descr="/home/claude/app_screenshots/female_representation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371600"/>
            <a:ext cx="4069080" cy="2377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3858768"/>
            <a:ext cx="8503920" cy="804672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2" name="Shape 8"/>
          <p:cNvSpPr/>
          <p:nvPr/>
        </p:nvSpPr>
        <p:spPr>
          <a:xfrm>
            <a:off x="320040" y="3858768"/>
            <a:ext cx="45720" cy="804672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502920" y="3877056"/>
            <a:ext cx="81381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Key insight: </a:t>
            </a:r>
            <a:r>
              <a:rPr lang="en-US" sz="1200" dirty="0">
                <a:solidFill>
                  <a:srgbClr val="1E3040"/>
                </a:solidFill>
              </a:rPr>
              <a:t>MSc female share is consistently </a:t>
            </a:r>
            <a:r>
              <a:rPr lang="en-US" sz="1200" b="1" dirty="0">
                <a:solidFill>
                  <a:srgbClr val="2F77A2"/>
                </a:solidFill>
              </a:rPr>
              <a:t>higher</a:t>
            </a:r>
            <a:r>
              <a:rPr lang="en-US" sz="1200" dirty="0">
                <a:solidFill>
                  <a:srgbClr val="5A7080"/>
                </a:solidFill>
              </a:rPr>
              <a:t> than BSc in most countries — yet both remain well below 30%. The comparison view makes cross-country divergence immediately visible.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EUROPEAN CONTEXT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7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2862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European Student Distribution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530377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Each country's proportional share of total EU informatics students.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754880" y="1228625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Absolute Scale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54880" y="1530377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Raw enrollment per country — large nations (Germany, UK, Turkey) dominate.</a:t>
            </a:r>
            <a:endParaRPr lang="en-US" sz="1050" dirty="0"/>
          </a:p>
        </p:txBody>
      </p:sp>
      <p:pic>
        <p:nvPicPr>
          <p:cNvPr id="10" name="Image 1" descr="/home/claude/app_screenshots/absolute_sca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4880" y="1868705"/>
            <a:ext cx="4069080" cy="1691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84E537-D58E-18D4-7F7A-9560F3553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91" y="1868705"/>
            <a:ext cx="3881738" cy="22610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12A99-6111-2A72-C828-F6185A9B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13DBE7-C159-0400-884A-7A6EA801D69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3B811D-D1F7-DF12-3901-82B01CC17043}"/>
              </a:ext>
            </a:extLst>
          </p:cNvPr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EUROPEAN CONTEXT 2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A484B04-E28F-FE67-FA3D-9D5CA576152D}"/>
              </a:ext>
            </a:extLst>
          </p:cNvPr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8 / 10</a:t>
            </a:r>
            <a:endParaRPr lang="en-US" sz="10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95A62D5D-60DC-7516-DEDF-95A32E1F632A}"/>
              </a:ext>
            </a:extLst>
          </p:cNvPr>
          <p:cNvSpPr/>
          <p:nvPr/>
        </p:nvSpPr>
        <p:spPr>
          <a:xfrm>
            <a:off x="365760" y="125529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National Density</a:t>
            </a:r>
            <a:endParaRPr lang="en-US" sz="13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64BCD53-DCD7-3270-A2E7-440A9EEA38A2}"/>
              </a:ext>
            </a:extLst>
          </p:cNvPr>
          <p:cNvSpPr/>
          <p:nvPr/>
        </p:nvSpPr>
        <p:spPr>
          <a:xfrm>
            <a:off x="365760" y="155705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Students per million inhabitants — reverses the ranking; small Nordic nations lead.</a:t>
            </a:r>
            <a:endParaRPr lang="en-US" sz="105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E06E247D-CFF9-BB7B-7471-2760F174517F}"/>
              </a:ext>
            </a:extLst>
          </p:cNvPr>
          <p:cNvSpPr/>
          <p:nvPr/>
        </p:nvSpPr>
        <p:spPr>
          <a:xfrm>
            <a:off x="4800600" y="125529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Total Enrollment Comparison</a:t>
            </a:r>
            <a:endParaRPr lang="en-US" sz="13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69691C6-4FAC-B3BE-B06A-5E433B5D5B76}"/>
              </a:ext>
            </a:extLst>
          </p:cNvPr>
          <p:cNvSpPr/>
          <p:nvPr/>
        </p:nvSpPr>
        <p:spPr>
          <a:xfrm>
            <a:off x="4800600" y="155705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Year-by-year grouped bars for two countries — direct comparative benchmarking.</a:t>
            </a:r>
            <a:endParaRPr lang="en-US" sz="10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5645450-9FA7-5A0D-FC60-DA7461697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01" y="1877090"/>
            <a:ext cx="3958158" cy="16833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A737D8-FF44-28AD-779B-1921D3C32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061" y="1925096"/>
            <a:ext cx="3958158" cy="203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4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9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658368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320040" y="658368"/>
            <a:ext cx="4114800" cy="54864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457200" y="795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A8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9848" y="795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The gender gap persists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Most European countries show fewer than 25% female students at BSc level — a ratio barely changed over 14 years.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658368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4709160" y="658368"/>
            <a:ext cx="4114800" cy="54864"/>
          </a:xfrm>
          <a:prstGeom prst="rect">
            <a:avLst/>
          </a:prstGeom>
          <a:solidFill>
            <a:srgbClr val="2F77A2"/>
          </a:solidFill>
          <a:ln w="12700">
            <a:solidFill>
              <a:srgbClr val="2F77A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846320" y="795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F77A2"/>
                </a:solidFill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58968" y="795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Growth masks stagnation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38988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Absolute female enrollment grew in most countries, yet the relative share is nearly unchanged. Choropleth maps make this immediately visible.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14600" y="2752344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2514600" y="2752344"/>
            <a:ext cx="4114800" cy="54864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2651760" y="28895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A500"/>
                </a:solidFill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264408" y="288950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Population normalization reverses rankings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97480" y="3483864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Sweden, Finland, and Estonia top the density charts — invisible in raw figures dominated by Germany.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8AAA"/>
                </a:solidFill>
              </a:rPr>
              <a:t>10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2286000" cy="36576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4618990" cy="3291840"/>
          </a:xfrm>
          <a:prstGeom prst="rect">
            <a:avLst/>
          </a:prstGeom>
          <a:solidFill>
            <a:srgbClr val="002A45"/>
          </a:solidFill>
          <a:ln w="9525">
            <a:solidFill>
              <a:srgbClr val="2F77A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11155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0A500"/>
                </a:solidFill>
              </a:rPr>
              <a:t>What we built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4239260" cy="2610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 fully static Vue 3 SPA</a:t>
            </a:r>
            <a:r>
              <a:rPr lang="en-US" sz="1600" dirty="0">
                <a:solidFill>
                  <a:srgbClr val="A8C4D4"/>
                </a:solidFill>
              </a:rPr>
              <a:t> integrating:
  ·  Geographic choropleth layer
  ·  Clustered interactive map
  ·  Statistical charts (enrollment, gender, density)
  ·  Side-by-side comparison modal
  ·  Search &amp; filter across 200+ institutions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01E30"/>
          </a:solidFill>
          <a:ln w="12700">
            <a:solidFill>
              <a:srgbClr val="001E30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6A8A"/>
                </a:solidFill>
              </a:rPr>
              <a:t>University of West Bohemia  ·  KIV/VI  · 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691</Words>
  <Application>Microsoft Office PowerPoint</Application>
  <PresentationFormat>On-screen Show (16:9)</PresentationFormat>
  <Paragraphs>104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Interactive Visualization Platform for Informatics Education Statistics</dc:title>
  <dc:subject>PptxGenJS Presentation</dc:subject>
  <dc:creator>Bc. Břetislav Milota, Bc. Martin Schön</dc:creator>
  <cp:lastModifiedBy>Martin Schön</cp:lastModifiedBy>
  <cp:revision>3</cp:revision>
  <dcterms:created xsi:type="dcterms:W3CDTF">2026-05-27T17:07:40Z</dcterms:created>
  <dcterms:modified xsi:type="dcterms:W3CDTF">2026-05-27T17:33:05Z</dcterms:modified>
</cp:coreProperties>
</file>